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8" r:id="rId4"/>
  </p:sldMasterIdLst>
  <p:sldIdLst>
    <p:sldId id="257" r:id="rId5"/>
    <p:sldId id="258" r:id="rId6"/>
    <p:sldId id="267" r:id="rId7"/>
    <p:sldId id="260" r:id="rId8"/>
    <p:sldId id="264" r:id="rId9"/>
    <p:sldId id="261" r:id="rId10"/>
    <p:sldId id="262" r:id="rId11"/>
    <p:sldId id="265" r:id="rId12"/>
    <p:sldId id="266"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96" d="100"/>
          <a:sy n="96" d="100"/>
        </p:scale>
        <p:origin x="1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9/9/2023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008432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73C55A3C-5767-4844-A0A3-83778C2E5409}" type="datetime1">
              <a:rPr lang="en-US" smtClean="0"/>
              <a:t>9/9/2023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451681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9/9/2023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549890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9/9/2023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631825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343D99-809A-49C0-96E5-4250D0B498EE}" type="datetime1">
              <a:rPr lang="en-US" smtClean="0"/>
              <a:t>9/9/2023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349180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A143DE9B-B678-4EFB-BB7D-A4370204A0B0}" type="datetime1">
              <a:rPr lang="en-US" smtClean="0"/>
              <a:t>9/9/2023</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978915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E68812DA-F765-4142-A6A3-A8ED7235E082}" type="datetime1">
              <a:rPr lang="en-US" smtClean="0"/>
              <a:t>9/9/2023</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079277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3E0277FD-7DE6-41D4-930D-AC99F5AFE54E}" type="datetime1">
              <a:rPr lang="en-US" smtClean="0"/>
              <a:t>9/9/2023</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524581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9/9/2023</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8471985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73ED0CC-082F-4160-86E5-0D6041F12778}" type="datetime1">
              <a:rPr lang="en-US" smtClean="0"/>
              <a:t>9/9/2023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5307253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073ED0CC-082F-4160-86E5-0D6041F12778}" type="datetime1">
              <a:rPr lang="en-US" smtClean="0"/>
              <a:t>9/9/2023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9148528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073ED0CC-082F-4160-86E5-0D6041F12778}" type="datetime1">
              <a:rPr lang="en-US" smtClean="0"/>
              <a:t>9/9/2023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740708598"/>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73ED0CC-082F-4160-86E5-0D6041F12778}" type="datetime1">
              <a:rPr lang="en-US" smtClean="0"/>
              <a:t>9/9/2023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59586983"/>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73ED0CC-082F-4160-86E5-0D6041F12778}" type="datetime1">
              <a:rPr lang="en-US" smtClean="0"/>
              <a:t>9/9/2023</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63860722"/>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73ED0CC-082F-4160-86E5-0D6041F12778}" type="datetime1">
              <a:rPr lang="en-US" smtClean="0"/>
              <a:t>9/9/2023</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00121634"/>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7E833E-1B6D-415F-AD29-75AE8C43BD0D}" type="datetime1">
              <a:rPr lang="en-US" smtClean="0"/>
              <a:t>9/9/2023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386217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2596F-08A7-4B70-989A-F2B1CF31E66B}" type="datetime1">
              <a:rPr lang="en-US" smtClean="0"/>
              <a:t>9/9/2023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35604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073ED0CC-082F-4160-86E5-0D6041F12778}" type="datetime1">
              <a:rPr lang="en-US" smtClean="0"/>
              <a:t>9/9/2023</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2044229659"/>
      </p:ext>
    </p:extLst>
  </p:cSld>
  <p:clrMap bg1="dk1" tx1="lt1" bg2="dk2" tx2="lt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 id="2147483732" r:id="rId14"/>
    <p:sldLayoutId id="2147483733" r:id="rId15"/>
    <p:sldLayoutId id="2147483734" r:id="rId16"/>
    <p:sldLayoutId id="2147483735"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9.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7.jp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jp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1.jp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2.jp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798F926-5505-C07C-A2AD-61579AE71534}"/>
              </a:ext>
            </a:extLst>
          </p:cNvPr>
          <p:cNvSpPr txBox="1"/>
          <p:nvPr/>
        </p:nvSpPr>
        <p:spPr>
          <a:xfrm>
            <a:off x="1176793" y="306237"/>
            <a:ext cx="8682824" cy="2246769"/>
          </a:xfrm>
          <a:prstGeom prst="rect">
            <a:avLst/>
          </a:prstGeom>
          <a:noFill/>
        </p:spPr>
        <p:txBody>
          <a:bodyPr wrap="square" rtlCol="0">
            <a:spAutoFit/>
          </a:bodyPr>
          <a:lstStyle/>
          <a:p>
            <a:r>
              <a:rPr lang="en-US" sz="2000" b="1" dirty="0">
                <a:latin typeface="Arial Black" panose="020B0A04020102020204" pitchFamily="34" charset="0"/>
              </a:rPr>
              <a:t>                             </a:t>
            </a:r>
            <a:r>
              <a:rPr lang="en-US" sz="2000" b="1" u="sng" dirty="0">
                <a:solidFill>
                  <a:schemeClr val="bg1"/>
                </a:solidFill>
                <a:latin typeface="Arial Black" panose="020B0A04020102020204" pitchFamily="34" charset="0"/>
              </a:rPr>
              <a:t>CURRENT CHINESE FASHION TRENDS</a:t>
            </a:r>
          </a:p>
          <a:p>
            <a:endParaRPr lang="en-US" sz="2000" b="1" dirty="0">
              <a:solidFill>
                <a:schemeClr val="bg1"/>
              </a:solidFill>
              <a:latin typeface="Arial Black" panose="020B0A04020102020204" pitchFamily="34" charset="0"/>
            </a:endParaRPr>
          </a:p>
          <a:p>
            <a:pPr algn="ctr"/>
            <a:r>
              <a:rPr lang="en-US" sz="2000" b="1" dirty="0">
                <a:latin typeface="Arial Black" panose="020B0A04020102020204" pitchFamily="34" charset="0"/>
              </a:rPr>
              <a:t>    Room 1 members:</a:t>
            </a:r>
          </a:p>
          <a:p>
            <a:pPr algn="ctr"/>
            <a:r>
              <a:rPr lang="en-US" sz="2000" b="1" dirty="0">
                <a:latin typeface="Arial Black" panose="020B0A04020102020204" pitchFamily="34" charset="0"/>
              </a:rPr>
              <a:t>    146284 - 	Tracy Wangui</a:t>
            </a:r>
          </a:p>
          <a:p>
            <a:pPr algn="ctr"/>
            <a:r>
              <a:rPr lang="en-US" sz="2000" b="1" dirty="0">
                <a:latin typeface="Arial Black" panose="020B0A04020102020204" pitchFamily="34" charset="0"/>
              </a:rPr>
              <a:t>    142092 – Edward Aribu</a:t>
            </a:r>
          </a:p>
          <a:p>
            <a:endParaRPr lang="en-US" sz="2000" b="1" dirty="0">
              <a:latin typeface="Arial Black" panose="020B0A04020102020204" pitchFamily="34" charset="0"/>
            </a:endParaRPr>
          </a:p>
          <a:p>
            <a:r>
              <a:rPr lang="en-US" sz="2000" b="1" dirty="0">
                <a:latin typeface="Arial Black" panose="020B0A04020102020204" pitchFamily="34" charset="0"/>
              </a:rPr>
              <a:t>    </a:t>
            </a:r>
            <a:endParaRPr lang="en-KE" sz="2000" b="1" dirty="0">
              <a:latin typeface="Arial Black" panose="020B0A04020102020204" pitchFamily="34" charset="0"/>
            </a:endParaRPr>
          </a:p>
        </p:txBody>
      </p:sp>
    </p:spTree>
    <p:extLst>
      <p:ext uri="{BB962C8B-B14F-4D97-AF65-F5344CB8AC3E}">
        <p14:creationId xmlns:p14="http://schemas.microsoft.com/office/powerpoint/2010/main" val="12248443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1B28F63-CF00-448F-B141-FE33C33B18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9" name="Picture 8">
            <a:extLst>
              <a:ext uri="{FF2B5EF4-FFF2-40B4-BE49-F238E27FC236}">
                <a16:creationId xmlns:a16="http://schemas.microsoft.com/office/drawing/2014/main" id="{2AE609E2-8522-44E4-9077-980E5BCF3E1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1" name="Oval 10">
            <a:extLst>
              <a:ext uri="{FF2B5EF4-FFF2-40B4-BE49-F238E27FC236}">
                <a16:creationId xmlns:a16="http://schemas.microsoft.com/office/drawing/2014/main" id="{4FA533C5-33E3-4611-AF9F-72811D8B2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KE"/>
          </a:p>
        </p:txBody>
      </p:sp>
      <p:pic>
        <p:nvPicPr>
          <p:cNvPr id="13" name="Picture 12">
            <a:extLst>
              <a:ext uri="{FF2B5EF4-FFF2-40B4-BE49-F238E27FC236}">
                <a16:creationId xmlns:a16="http://schemas.microsoft.com/office/drawing/2014/main" id="{8949AD42-25FD-4C3D-9EEE-B7FEC58099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5" name="Picture 14">
            <a:extLst>
              <a:ext uri="{FF2B5EF4-FFF2-40B4-BE49-F238E27FC236}">
                <a16:creationId xmlns:a16="http://schemas.microsoft.com/office/drawing/2014/main" id="{6AC7D913-60B7-4603-881B-831DA5D3A94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7" name="Rectangle 16">
            <a:extLst>
              <a:ext uri="{FF2B5EF4-FFF2-40B4-BE49-F238E27FC236}">
                <a16:creationId xmlns:a16="http://schemas.microsoft.com/office/drawing/2014/main" id="{87F0FDC4-AD8C-47D9-9131-623C98ADB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KE"/>
          </a:p>
        </p:txBody>
      </p:sp>
      <p:sp>
        <p:nvSpPr>
          <p:cNvPr id="19" name="Rectangle 18">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21" name="Rectangle 20">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KE"/>
          </a:p>
        </p:txBody>
      </p:sp>
      <p:sp>
        <p:nvSpPr>
          <p:cNvPr id="23"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33" name="Freeform: Shape 24">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KE"/>
          </a:p>
        </p:txBody>
      </p:sp>
      <p:sp>
        <p:nvSpPr>
          <p:cNvPr id="2" name="TextBox 1">
            <a:extLst>
              <a:ext uri="{FF2B5EF4-FFF2-40B4-BE49-F238E27FC236}">
                <a16:creationId xmlns:a16="http://schemas.microsoft.com/office/drawing/2014/main" id="{747EE1FD-B229-1F34-BE47-A1C795DC4858}"/>
              </a:ext>
            </a:extLst>
          </p:cNvPr>
          <p:cNvSpPr txBox="1"/>
          <p:nvPr/>
        </p:nvSpPr>
        <p:spPr>
          <a:xfrm>
            <a:off x="115094" y="1326674"/>
            <a:ext cx="5407024" cy="4971388"/>
          </a:xfrm>
          <a:prstGeom prst="rect">
            <a:avLst/>
          </a:prstGeom>
        </p:spPr>
        <p:txBody>
          <a:bodyPr vert="horz" lIns="91440" tIns="45720" rIns="91440" bIns="45720" rtlCol="0">
            <a:noAutofit/>
          </a:bodyPr>
          <a:lstStyle/>
          <a:p>
            <a:pPr>
              <a:spcBef>
                <a:spcPts val="1000"/>
              </a:spcBef>
              <a:buClr>
                <a:schemeClr val="bg2">
                  <a:lumMod val="40000"/>
                  <a:lumOff val="60000"/>
                </a:schemeClr>
              </a:buClr>
              <a:buSzPct val="80000"/>
            </a:pPr>
            <a:r>
              <a:rPr lang="en-US" sz="1200" dirty="0">
                <a:latin typeface="Arial Black" panose="020B0A04020102020204" pitchFamily="34" charset="0"/>
                <a:ea typeface="+mj-ea"/>
                <a:cs typeface="+mj-cs"/>
              </a:rPr>
              <a:t> </a:t>
            </a:r>
            <a:r>
              <a:rPr lang="en-US" sz="2400" u="sng" dirty="0">
                <a:solidFill>
                  <a:schemeClr val="bg1"/>
                </a:solidFill>
                <a:latin typeface="Arial Black" panose="020B0A04020102020204" pitchFamily="34" charset="0"/>
                <a:ea typeface="+mj-ea"/>
                <a:cs typeface="+mj-cs"/>
              </a:rPr>
              <a:t>Key Trends </a:t>
            </a:r>
          </a:p>
          <a:p>
            <a:pPr>
              <a:spcBef>
                <a:spcPts val="1000"/>
              </a:spcBef>
              <a:buClr>
                <a:schemeClr val="bg2">
                  <a:lumMod val="40000"/>
                  <a:lumOff val="60000"/>
                </a:schemeClr>
              </a:buClr>
              <a:buSzPct val="80000"/>
            </a:pPr>
            <a:endParaRPr lang="en-US" sz="2400" u="sng" dirty="0">
              <a:solidFill>
                <a:schemeClr val="bg1"/>
              </a:solidFill>
              <a:latin typeface="Arial Black" panose="020B0A04020102020204" pitchFamily="34" charset="0"/>
              <a:ea typeface="+mj-ea"/>
              <a:cs typeface="+mj-cs"/>
            </a:endParaRPr>
          </a:p>
          <a:p>
            <a:pPr>
              <a:spcBef>
                <a:spcPts val="1000"/>
              </a:spcBef>
              <a:buClr>
                <a:schemeClr val="bg2">
                  <a:lumMod val="40000"/>
                  <a:lumOff val="60000"/>
                </a:schemeClr>
              </a:buClr>
              <a:buSzPct val="80000"/>
            </a:pPr>
            <a:r>
              <a:rPr lang="en-US" sz="1400" dirty="0">
                <a:latin typeface="Arial Black" panose="020B0A04020102020204" pitchFamily="34" charset="0"/>
                <a:ea typeface="+mj-ea"/>
                <a:cs typeface="+mj-cs"/>
              </a:rPr>
              <a:t>1. Reimagined Tradition</a:t>
            </a:r>
          </a:p>
          <a:p>
            <a:pPr>
              <a:spcBef>
                <a:spcPts val="1000"/>
              </a:spcBef>
              <a:buClr>
                <a:schemeClr val="bg2">
                  <a:lumMod val="40000"/>
                  <a:lumOff val="60000"/>
                </a:schemeClr>
              </a:buClr>
              <a:buSzPct val="80000"/>
            </a:pPr>
            <a:r>
              <a:rPr lang="en-US" sz="1400" dirty="0">
                <a:latin typeface="Arial Black" panose="020B0A04020102020204" pitchFamily="34" charset="0"/>
                <a:ea typeface="+mj-ea"/>
                <a:cs typeface="+mj-cs"/>
              </a:rPr>
              <a:t>2. Streetwear Dominance</a:t>
            </a:r>
          </a:p>
          <a:p>
            <a:pPr>
              <a:spcBef>
                <a:spcPts val="1000"/>
              </a:spcBef>
              <a:buClr>
                <a:schemeClr val="bg2">
                  <a:lumMod val="40000"/>
                  <a:lumOff val="60000"/>
                </a:schemeClr>
              </a:buClr>
              <a:buSzPct val="80000"/>
            </a:pPr>
            <a:r>
              <a:rPr lang="en-US" sz="1400" dirty="0">
                <a:latin typeface="Arial Black" panose="020B0A04020102020204" pitchFamily="34" charset="0"/>
                <a:ea typeface="+mj-ea"/>
                <a:cs typeface="+mj-cs"/>
              </a:rPr>
              <a:t>3. Sustainability Matters</a:t>
            </a:r>
          </a:p>
          <a:p>
            <a:pPr>
              <a:spcBef>
                <a:spcPts val="1000"/>
              </a:spcBef>
              <a:buClr>
                <a:schemeClr val="bg2">
                  <a:lumMod val="40000"/>
                  <a:lumOff val="60000"/>
                </a:schemeClr>
              </a:buClr>
              <a:buSzPct val="80000"/>
            </a:pPr>
            <a:r>
              <a:rPr lang="en-US" sz="1400" dirty="0">
                <a:latin typeface="Arial Black" panose="020B0A04020102020204" pitchFamily="34" charset="0"/>
                <a:ea typeface="+mj-ea"/>
                <a:cs typeface="+mj-cs"/>
              </a:rPr>
              <a:t>4. Tech-Infused Fashion</a:t>
            </a:r>
          </a:p>
          <a:p>
            <a:pPr>
              <a:spcBef>
                <a:spcPts val="1000"/>
              </a:spcBef>
              <a:buClr>
                <a:schemeClr val="bg2">
                  <a:lumMod val="40000"/>
                  <a:lumOff val="60000"/>
                </a:schemeClr>
              </a:buClr>
              <a:buSzPct val="80000"/>
            </a:pPr>
            <a:r>
              <a:rPr lang="en-US" sz="1400" dirty="0">
                <a:latin typeface="Arial Black" panose="020B0A04020102020204" pitchFamily="34" charset="0"/>
                <a:ea typeface="+mj-ea"/>
                <a:cs typeface="+mj-cs"/>
              </a:rPr>
              <a:t>5. Gender Fluidity</a:t>
            </a:r>
          </a:p>
          <a:p>
            <a:pPr>
              <a:spcBef>
                <a:spcPts val="1000"/>
              </a:spcBef>
              <a:buClr>
                <a:schemeClr val="bg2">
                  <a:lumMod val="40000"/>
                  <a:lumOff val="60000"/>
                </a:schemeClr>
              </a:buClr>
              <a:buSzPct val="80000"/>
            </a:pPr>
            <a:r>
              <a:rPr lang="en-US" sz="1400" dirty="0">
                <a:latin typeface="Arial Black" panose="020B0A04020102020204" pitchFamily="34" charset="0"/>
                <a:ea typeface="+mj-ea"/>
                <a:cs typeface="+mj-cs"/>
              </a:rPr>
              <a:t>6. Local Designer Spotlight - International recognition for Guo Pei, Angel Chen, and Feng Chen Wang.</a:t>
            </a:r>
          </a:p>
          <a:p>
            <a:pPr>
              <a:spcBef>
                <a:spcPts val="1000"/>
              </a:spcBef>
              <a:buClr>
                <a:schemeClr val="bg2">
                  <a:lumMod val="40000"/>
                  <a:lumOff val="60000"/>
                </a:schemeClr>
              </a:buClr>
              <a:buSzPct val="80000"/>
            </a:pPr>
            <a:r>
              <a:rPr lang="en-US" sz="1400" dirty="0">
                <a:latin typeface="Arial Black" panose="020B0A04020102020204" pitchFamily="34" charset="0"/>
                <a:ea typeface="+mj-ea"/>
                <a:cs typeface="+mj-cs"/>
              </a:rPr>
              <a:t>7. Influencer Impact - Social media influencers drive fashion trends and brand endorsements.</a:t>
            </a:r>
          </a:p>
          <a:p>
            <a:pPr>
              <a:spcBef>
                <a:spcPts val="1000"/>
              </a:spcBef>
              <a:buClr>
                <a:schemeClr val="bg2">
                  <a:lumMod val="40000"/>
                  <a:lumOff val="60000"/>
                </a:schemeClr>
              </a:buClr>
              <a:buSzPct val="80000"/>
            </a:pPr>
            <a:r>
              <a:rPr lang="en-US" sz="1400" dirty="0">
                <a:latin typeface="Arial Black" panose="020B0A04020102020204" pitchFamily="34" charset="0"/>
                <a:ea typeface="+mj-ea"/>
                <a:cs typeface="+mj-cs"/>
              </a:rPr>
              <a:t>8. E-Commerce and Livestreaming</a:t>
            </a:r>
          </a:p>
          <a:p>
            <a:pPr>
              <a:spcBef>
                <a:spcPts val="1000"/>
              </a:spcBef>
              <a:buClr>
                <a:schemeClr val="bg2">
                  <a:lumMod val="40000"/>
                  <a:lumOff val="60000"/>
                </a:schemeClr>
              </a:buClr>
              <a:buSzPct val="80000"/>
            </a:pPr>
            <a:r>
              <a:rPr lang="en-US" sz="1400" dirty="0">
                <a:latin typeface="Arial Black" panose="020B0A04020102020204" pitchFamily="34" charset="0"/>
                <a:ea typeface="+mj-ea"/>
                <a:cs typeface="+mj-cs"/>
              </a:rPr>
              <a:t>9. Pandemic-Influenced Style</a:t>
            </a:r>
          </a:p>
          <a:p>
            <a:pPr>
              <a:spcBef>
                <a:spcPts val="1000"/>
              </a:spcBef>
              <a:buClr>
                <a:schemeClr val="bg2">
                  <a:lumMod val="40000"/>
                  <a:lumOff val="60000"/>
                </a:schemeClr>
              </a:buClr>
              <a:buSzPct val="80000"/>
            </a:pPr>
            <a:endParaRPr lang="en-US" sz="1200" dirty="0">
              <a:latin typeface="Arial Black" panose="020B0A04020102020204" pitchFamily="34" charset="0"/>
              <a:ea typeface="+mj-ea"/>
              <a:cs typeface="+mj-cs"/>
            </a:endParaRPr>
          </a:p>
          <a:p>
            <a:pPr>
              <a:spcBef>
                <a:spcPts val="1000"/>
              </a:spcBef>
              <a:buClr>
                <a:schemeClr val="bg2">
                  <a:lumMod val="40000"/>
                  <a:lumOff val="60000"/>
                </a:schemeClr>
              </a:buClr>
              <a:buSzPct val="80000"/>
            </a:pPr>
            <a:endParaRPr lang="en-US" sz="1200" dirty="0">
              <a:latin typeface="Arial Black" panose="020B0A04020102020204" pitchFamily="34" charset="0"/>
              <a:ea typeface="+mj-ea"/>
              <a:cs typeface="+mj-cs"/>
            </a:endParaRPr>
          </a:p>
          <a:p>
            <a:pPr>
              <a:spcBef>
                <a:spcPts val="1000"/>
              </a:spcBef>
              <a:buClr>
                <a:schemeClr val="bg2">
                  <a:lumMod val="40000"/>
                  <a:lumOff val="60000"/>
                </a:schemeClr>
              </a:buClr>
              <a:buSzPct val="80000"/>
            </a:pPr>
            <a:endParaRPr lang="en-US" sz="1200" dirty="0">
              <a:latin typeface="Arial Black" panose="020B0A04020102020204" pitchFamily="34" charset="0"/>
              <a:ea typeface="+mj-ea"/>
              <a:cs typeface="+mj-cs"/>
            </a:endParaRPr>
          </a:p>
        </p:txBody>
      </p:sp>
    </p:spTree>
    <p:extLst>
      <p:ext uri="{BB962C8B-B14F-4D97-AF65-F5344CB8AC3E}">
        <p14:creationId xmlns:p14="http://schemas.microsoft.com/office/powerpoint/2010/main" val="3216928718"/>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2" name="Picture 11">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4" name="Oval 13">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16" name="Picture 15">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8" name="Picture 17">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0" name="Rectangle 19">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2" name="Rectangle 21">
            <a:extLst>
              <a:ext uri="{FF2B5EF4-FFF2-40B4-BE49-F238E27FC236}">
                <a16:creationId xmlns:a16="http://schemas.microsoft.com/office/drawing/2014/main" id="{B4AAD3FD-83A5-4B89-9F8F-01B887086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4" name="Freeform 31">
            <a:extLst>
              <a:ext uri="{FF2B5EF4-FFF2-40B4-BE49-F238E27FC236}">
                <a16:creationId xmlns:a16="http://schemas.microsoft.com/office/drawing/2014/main" id="{61752F1D-FC0F-4103-9584-630E643CC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6" name="Freeform: Shape 25">
            <a:extLst>
              <a:ext uri="{FF2B5EF4-FFF2-40B4-BE49-F238E27FC236}">
                <a16:creationId xmlns:a16="http://schemas.microsoft.com/office/drawing/2014/main" id="{70151CB7-E7DE-4917-B831-01DF9CE01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en-GB"/>
          </a:p>
        </p:txBody>
      </p:sp>
      <p:pic>
        <p:nvPicPr>
          <p:cNvPr id="5" name="Picture Placeholder 4" descr="A person in a dress&#10;&#10;Description automatically generated">
            <a:extLst>
              <a:ext uri="{FF2B5EF4-FFF2-40B4-BE49-F238E27FC236}">
                <a16:creationId xmlns:a16="http://schemas.microsoft.com/office/drawing/2014/main" id="{9DDCAB6F-01AF-F851-2970-EC40929C23EC}"/>
              </a:ext>
            </a:extLst>
          </p:cNvPr>
          <p:cNvPicPr>
            <a:picLocks noGrp="1" noChangeAspect="1"/>
          </p:cNvPicPr>
          <p:nvPr>
            <p:ph type="pic" idx="1"/>
          </p:nvPr>
        </p:nvPicPr>
        <p:blipFill>
          <a:blip r:embed="rId6">
            <a:extLst>
              <a:ext uri="{28A0092B-C50C-407E-A947-70E740481C1C}">
                <a14:useLocalDpi xmlns:a14="http://schemas.microsoft.com/office/drawing/2010/main" val="0"/>
              </a:ext>
            </a:extLst>
          </a:blip>
          <a:srcRect l="6" r="6"/>
          <a:stretch>
            <a:fillRect/>
          </a:stretch>
        </p:blipFill>
        <p:spPr>
          <a:xfrm>
            <a:off x="6872260" y="647698"/>
            <a:ext cx="3893352" cy="5562601"/>
          </a:xfrm>
          <a:prstGeom prst="rect">
            <a:avLst/>
          </a:prstGeom>
          <a:effectLst/>
        </p:spPr>
      </p:pic>
      <p:sp>
        <p:nvSpPr>
          <p:cNvPr id="28" name="Rectangle 27">
            <a:extLst>
              <a:ext uri="{FF2B5EF4-FFF2-40B4-BE49-F238E27FC236}">
                <a16:creationId xmlns:a16="http://schemas.microsoft.com/office/drawing/2014/main" id="{A92A1116-1C84-41DF-B803-1F7B0883E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4" name="Text Placeholder 3">
            <a:extLst>
              <a:ext uri="{FF2B5EF4-FFF2-40B4-BE49-F238E27FC236}">
                <a16:creationId xmlns:a16="http://schemas.microsoft.com/office/drawing/2014/main" id="{40FEE4ED-3AF5-4FC5-DA65-DDC90FB58FB8}"/>
              </a:ext>
            </a:extLst>
          </p:cNvPr>
          <p:cNvSpPr>
            <a:spLocks noGrp="1"/>
          </p:cNvSpPr>
          <p:nvPr>
            <p:ph type="body" sz="half" idx="2"/>
          </p:nvPr>
        </p:nvSpPr>
        <p:spPr>
          <a:xfrm>
            <a:off x="307156" y="570702"/>
            <a:ext cx="4166509" cy="5953665"/>
          </a:xfrm>
        </p:spPr>
        <p:txBody>
          <a:bodyPr vert="horz" lIns="91440" tIns="45720" rIns="91440" bIns="45720" rtlCol="0">
            <a:noAutofit/>
          </a:bodyPr>
          <a:lstStyle/>
          <a:p>
            <a:r>
              <a:rPr lang="en-US" sz="2000" u="sng" dirty="0">
                <a:solidFill>
                  <a:srgbClr val="EBEBEB"/>
                </a:solidFill>
                <a:latin typeface="Arial Black" panose="020B0A04020102020204" pitchFamily="34" charset="0"/>
              </a:rPr>
              <a:t>Reimagined traditional elements</a:t>
            </a:r>
          </a:p>
          <a:p>
            <a:r>
              <a:rPr lang="en-US" sz="1600" dirty="0">
                <a:solidFill>
                  <a:srgbClr val="EBEBEB"/>
                </a:solidFill>
                <a:latin typeface="Arial Black" panose="020B0A04020102020204" pitchFamily="34" charset="0"/>
              </a:rPr>
              <a:t>Modern fashion designers have reimagined the qipao by modifying its shape, length, fabric, or color, making it more suitable for contemporary tastes and occasions. The fusion of streetwear and traditional elements, which creates a unique and edgy style that appeals to urban youth.</a:t>
            </a:r>
          </a:p>
          <a:p>
            <a:r>
              <a:rPr lang="en-US" sz="1600" dirty="0">
                <a:solidFill>
                  <a:srgbClr val="EBEBEB"/>
                </a:solidFill>
                <a:latin typeface="Arial Black" panose="020B0A04020102020204" pitchFamily="34" charset="0"/>
              </a:rPr>
              <a:t>The revival of </a:t>
            </a:r>
            <a:r>
              <a:rPr lang="en-US" sz="1600" dirty="0" err="1">
                <a:solidFill>
                  <a:srgbClr val="EBEBEB"/>
                </a:solidFill>
                <a:latin typeface="Arial Black" panose="020B0A04020102020204" pitchFamily="34" charset="0"/>
              </a:rPr>
              <a:t>Hanfu</a:t>
            </a:r>
            <a:r>
              <a:rPr lang="en-US" sz="1600" dirty="0">
                <a:solidFill>
                  <a:srgbClr val="EBEBEB"/>
                </a:solidFill>
                <a:latin typeface="Arial Black" panose="020B0A04020102020204" pitchFamily="34" charset="0"/>
              </a:rPr>
              <a:t>, the ancient clothing of the Han Chinese people, which has become a popular subculture among young Chinese who seek to express their heritage and appreciation for classical beauty. </a:t>
            </a:r>
            <a:r>
              <a:rPr lang="en-US" sz="1600" dirty="0" err="1">
                <a:solidFill>
                  <a:srgbClr val="EBEBEB"/>
                </a:solidFill>
                <a:latin typeface="Arial Black" panose="020B0A04020102020204" pitchFamily="34" charset="0"/>
              </a:rPr>
              <a:t>Hanfu</a:t>
            </a:r>
            <a:r>
              <a:rPr lang="en-US" sz="1600" dirty="0">
                <a:solidFill>
                  <a:srgbClr val="EBEBEB"/>
                </a:solidFill>
                <a:latin typeface="Arial Black" panose="020B0A04020102020204" pitchFamily="34" charset="0"/>
              </a:rPr>
              <a:t> is characterized by loose robes, long sleeves, and elegant patterns, often inspired by nature or mythology</a:t>
            </a:r>
          </a:p>
        </p:txBody>
      </p:sp>
    </p:spTree>
    <p:extLst>
      <p:ext uri="{BB962C8B-B14F-4D97-AF65-F5344CB8AC3E}">
        <p14:creationId xmlns:p14="http://schemas.microsoft.com/office/powerpoint/2010/main" val="3699873615"/>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1" name="Picture 10">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3" name="Oval 12">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KE"/>
          </a:p>
        </p:txBody>
      </p:sp>
      <p:pic>
        <p:nvPicPr>
          <p:cNvPr id="15" name="Picture 14">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7" name="Picture 16">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9" name="Rectangle 18">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KE"/>
          </a:p>
        </p:txBody>
      </p:sp>
      <p:pic>
        <p:nvPicPr>
          <p:cNvPr id="4" name="Picture 3" descr="A collage of women in different outfits&#10;&#10;Description automatically generated">
            <a:extLst>
              <a:ext uri="{FF2B5EF4-FFF2-40B4-BE49-F238E27FC236}">
                <a16:creationId xmlns:a16="http://schemas.microsoft.com/office/drawing/2014/main" id="{75B298E4-C289-C0D8-55A5-85B27F2AC936}"/>
              </a:ext>
            </a:extLst>
          </p:cNvPr>
          <p:cNvPicPr>
            <a:picLocks noChangeAspect="1"/>
          </p:cNvPicPr>
          <p:nvPr/>
        </p:nvPicPr>
        <p:blipFill rotWithShape="1">
          <a:blip r:embed="rId7">
            <a:extLst>
              <a:ext uri="{28A0092B-C50C-407E-A947-70E740481C1C}">
                <a14:useLocalDpi xmlns:a14="http://schemas.microsoft.com/office/drawing/2010/main" val="0"/>
              </a:ext>
            </a:extLst>
          </a:blip>
          <a:srcRect t="2677" r="-2" b="6609"/>
          <a:stretch/>
        </p:blipFill>
        <p:spPr>
          <a:xfrm>
            <a:off x="4634680" y="10"/>
            <a:ext cx="7560130" cy="6857990"/>
          </a:xfrm>
          <a:prstGeom prst="rect">
            <a:avLst/>
          </a:prstGeom>
        </p:spPr>
      </p:pic>
      <p:sp>
        <p:nvSpPr>
          <p:cNvPr id="21" name="Rectangle 20">
            <a:extLst>
              <a:ext uri="{FF2B5EF4-FFF2-40B4-BE49-F238E27FC236}">
                <a16:creationId xmlns:a16="http://schemas.microsoft.com/office/drawing/2014/main" id="{A26E2FAE-FA60-497B-B2CB-7702C6FF3A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KE"/>
          </a:p>
        </p:txBody>
      </p:sp>
      <p:sp>
        <p:nvSpPr>
          <p:cNvPr id="2" name="TextBox 1">
            <a:extLst>
              <a:ext uri="{FF2B5EF4-FFF2-40B4-BE49-F238E27FC236}">
                <a16:creationId xmlns:a16="http://schemas.microsoft.com/office/drawing/2014/main" id="{A1BE530B-D3DB-5626-0141-67A1C197C5C3}"/>
              </a:ext>
            </a:extLst>
          </p:cNvPr>
          <p:cNvSpPr txBox="1"/>
          <p:nvPr/>
        </p:nvSpPr>
        <p:spPr>
          <a:xfrm>
            <a:off x="430991" y="740634"/>
            <a:ext cx="3904855" cy="5198847"/>
          </a:xfrm>
          <a:prstGeom prst="rect">
            <a:avLst/>
          </a:prstGeom>
        </p:spPr>
        <p:txBody>
          <a:bodyPr vert="horz" lIns="91440" tIns="45720" rIns="91440" bIns="45720" rtlCol="0">
            <a:normAutofit/>
          </a:bodyPr>
          <a:lstStyle/>
          <a:p>
            <a:pPr>
              <a:lnSpc>
                <a:spcPct val="90000"/>
              </a:lnSpc>
              <a:spcBef>
                <a:spcPts val="1000"/>
              </a:spcBef>
              <a:buClr>
                <a:schemeClr val="bg2">
                  <a:lumMod val="40000"/>
                  <a:lumOff val="60000"/>
                </a:schemeClr>
              </a:buClr>
              <a:buSzPct val="80000"/>
            </a:pPr>
            <a:r>
              <a:rPr lang="en-US" sz="2000" u="sng" dirty="0">
                <a:latin typeface="Arial Black" panose="020B0A04020102020204" pitchFamily="34" charset="0"/>
                <a:ea typeface="+mj-ea"/>
                <a:cs typeface="+mj-cs"/>
              </a:rPr>
              <a:t>Sustainability in fashion</a:t>
            </a:r>
          </a:p>
          <a:p>
            <a:pPr>
              <a:lnSpc>
                <a:spcPct val="90000"/>
              </a:lnSpc>
              <a:spcBef>
                <a:spcPts val="1000"/>
              </a:spcBef>
              <a:buClr>
                <a:schemeClr val="bg2">
                  <a:lumMod val="40000"/>
                  <a:lumOff val="60000"/>
                </a:schemeClr>
              </a:buClr>
              <a:buSzPct val="80000"/>
            </a:pPr>
            <a:r>
              <a:rPr lang="en-US" sz="1600" dirty="0">
                <a:latin typeface="Arial Black" panose="020B0A04020102020204" pitchFamily="34" charset="0"/>
                <a:ea typeface="+mj-ea"/>
                <a:cs typeface="+mj-cs"/>
              </a:rPr>
              <a:t>The rising awareness and interest of Chinese consumers for sustainable fashion, especially among the younger generation, who are more exposed to environmental issues and social causes has contributed to:</a:t>
            </a:r>
          </a:p>
          <a:p>
            <a:pPr>
              <a:lnSpc>
                <a:spcPct val="90000"/>
              </a:lnSpc>
              <a:spcBef>
                <a:spcPts val="1000"/>
              </a:spcBef>
              <a:buClr>
                <a:schemeClr val="bg2">
                  <a:lumMod val="40000"/>
                  <a:lumOff val="60000"/>
                </a:schemeClr>
              </a:buClr>
              <a:buSzPct val="80000"/>
            </a:pPr>
            <a:r>
              <a:rPr lang="en-US" sz="1600" dirty="0">
                <a:latin typeface="Arial Black" panose="020B0A04020102020204" pitchFamily="34" charset="0"/>
                <a:ea typeface="+mj-ea"/>
                <a:cs typeface="+mj-cs"/>
              </a:rPr>
              <a:t>1. Adoption  more eco-friendly practices and technologies, such as using organic cotton, recycled materials, or digital printing.</a:t>
            </a:r>
          </a:p>
          <a:p>
            <a:pPr>
              <a:lnSpc>
                <a:spcPct val="90000"/>
              </a:lnSpc>
              <a:spcBef>
                <a:spcPts val="1000"/>
              </a:spcBef>
              <a:buClr>
                <a:schemeClr val="bg2">
                  <a:lumMod val="40000"/>
                  <a:lumOff val="60000"/>
                </a:schemeClr>
              </a:buClr>
              <a:buSzPct val="80000"/>
            </a:pPr>
            <a:r>
              <a:rPr lang="en-US" sz="1600" dirty="0">
                <a:latin typeface="Arial Black" panose="020B0A04020102020204" pitchFamily="34" charset="0"/>
                <a:ea typeface="+mj-ea"/>
                <a:cs typeface="+mj-cs"/>
              </a:rPr>
              <a:t>2. Use natural fabrics, support local craftsmanship, or empower women through their products</a:t>
            </a:r>
          </a:p>
          <a:p>
            <a:pPr>
              <a:lnSpc>
                <a:spcPct val="90000"/>
              </a:lnSpc>
              <a:spcBef>
                <a:spcPts val="1000"/>
              </a:spcBef>
              <a:buClr>
                <a:schemeClr val="bg2">
                  <a:lumMod val="40000"/>
                  <a:lumOff val="60000"/>
                </a:schemeClr>
              </a:buClr>
              <a:buSzPct val="80000"/>
            </a:pPr>
            <a:endParaRPr lang="en-US" sz="1500" dirty="0">
              <a:latin typeface="+mj-lt"/>
              <a:ea typeface="+mj-ea"/>
              <a:cs typeface="+mj-cs"/>
            </a:endParaRPr>
          </a:p>
        </p:txBody>
      </p:sp>
    </p:spTree>
    <p:extLst>
      <p:ext uri="{BB962C8B-B14F-4D97-AF65-F5344CB8AC3E}">
        <p14:creationId xmlns:p14="http://schemas.microsoft.com/office/powerpoint/2010/main" val="10436333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44" name="Picture 25">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45" name="Picture 27">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46" name="Oval 29">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KE"/>
          </a:p>
        </p:txBody>
      </p:sp>
      <p:pic>
        <p:nvPicPr>
          <p:cNvPr id="47" name="Picture 31">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48" name="Picture 33">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49" name="Rectangle 35">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KE"/>
          </a:p>
        </p:txBody>
      </p:sp>
      <p:pic>
        <p:nvPicPr>
          <p:cNvPr id="6" name="Picture 5" descr="A person in black clothes&#10;&#10;Description automatically generated">
            <a:extLst>
              <a:ext uri="{FF2B5EF4-FFF2-40B4-BE49-F238E27FC236}">
                <a16:creationId xmlns:a16="http://schemas.microsoft.com/office/drawing/2014/main" id="{66B5A53A-2778-2F72-3E00-B2AC55CE8389}"/>
              </a:ext>
            </a:extLst>
          </p:cNvPr>
          <p:cNvPicPr>
            <a:picLocks noChangeAspect="1"/>
          </p:cNvPicPr>
          <p:nvPr/>
        </p:nvPicPr>
        <p:blipFill rotWithShape="1">
          <a:blip r:embed="rId7">
            <a:extLst>
              <a:ext uri="{28A0092B-C50C-407E-A947-70E740481C1C}">
                <a14:useLocalDpi xmlns:a14="http://schemas.microsoft.com/office/drawing/2010/main" val="0"/>
              </a:ext>
            </a:extLst>
          </a:blip>
          <a:srcRect b="9977"/>
          <a:stretch/>
        </p:blipFill>
        <p:spPr>
          <a:xfrm>
            <a:off x="-2" y="10"/>
            <a:ext cx="6094407" cy="6857990"/>
          </a:xfrm>
          <a:prstGeom prst="rect">
            <a:avLst/>
          </a:prstGeom>
        </p:spPr>
      </p:pic>
      <p:sp>
        <p:nvSpPr>
          <p:cNvPr id="2" name="TextBox 1">
            <a:extLst>
              <a:ext uri="{FF2B5EF4-FFF2-40B4-BE49-F238E27FC236}">
                <a16:creationId xmlns:a16="http://schemas.microsoft.com/office/drawing/2014/main" id="{A1BE530B-D3DB-5626-0141-67A1C197C5C3}"/>
              </a:ext>
            </a:extLst>
          </p:cNvPr>
          <p:cNvSpPr txBox="1"/>
          <p:nvPr/>
        </p:nvSpPr>
        <p:spPr>
          <a:xfrm>
            <a:off x="6343649" y="209552"/>
            <a:ext cx="5589917" cy="6038848"/>
          </a:xfrm>
          <a:prstGeom prst="rect">
            <a:avLst/>
          </a:prstGeom>
        </p:spPr>
        <p:txBody>
          <a:bodyPr vert="horz" lIns="91440" tIns="45720" rIns="91440" bIns="45720" rtlCol="0">
            <a:normAutofit/>
          </a:bodyPr>
          <a:lstStyle/>
          <a:p>
            <a:pPr>
              <a:lnSpc>
                <a:spcPct val="90000"/>
              </a:lnSpc>
              <a:spcBef>
                <a:spcPts val="1000"/>
              </a:spcBef>
              <a:buClr>
                <a:schemeClr val="bg2">
                  <a:lumMod val="40000"/>
                  <a:lumOff val="60000"/>
                </a:schemeClr>
              </a:buClr>
              <a:buSzPct val="80000"/>
            </a:pPr>
            <a:r>
              <a:rPr lang="en-US" sz="1200" b="1" u="sng" dirty="0">
                <a:latin typeface="Arial Black" panose="020B0A04020102020204" pitchFamily="34" charset="0"/>
                <a:ea typeface="+mj-ea"/>
                <a:cs typeface="+mj-cs"/>
              </a:rPr>
              <a:t> </a:t>
            </a:r>
            <a:r>
              <a:rPr lang="en-US" b="1" u="sng" dirty="0">
                <a:latin typeface="Arial Black" panose="020B0A04020102020204" pitchFamily="34" charset="0"/>
                <a:ea typeface="+mj-ea"/>
                <a:cs typeface="+mj-cs"/>
              </a:rPr>
              <a:t>TECH-INFUSED FASHION IN CHINESE FASHION</a:t>
            </a:r>
          </a:p>
          <a:p>
            <a:pPr>
              <a:lnSpc>
                <a:spcPct val="90000"/>
              </a:lnSpc>
              <a:spcBef>
                <a:spcPts val="1000"/>
              </a:spcBef>
              <a:buClr>
                <a:schemeClr val="bg2">
                  <a:lumMod val="40000"/>
                  <a:lumOff val="60000"/>
                </a:schemeClr>
              </a:buClr>
              <a:buSzPct val="80000"/>
            </a:pPr>
            <a:r>
              <a:rPr lang="en-US" sz="1300" u="sng" dirty="0">
                <a:latin typeface="+mj-lt"/>
                <a:ea typeface="+mj-ea"/>
                <a:cs typeface="+mj-cs"/>
              </a:rPr>
              <a:t>   </a:t>
            </a:r>
          </a:p>
          <a:p>
            <a:pPr>
              <a:lnSpc>
                <a:spcPct val="90000"/>
              </a:lnSpc>
              <a:spcBef>
                <a:spcPts val="1000"/>
              </a:spcBef>
              <a:buClr>
                <a:schemeClr val="bg2">
                  <a:lumMod val="40000"/>
                  <a:lumOff val="60000"/>
                </a:schemeClr>
              </a:buClr>
              <a:buSzPct val="80000"/>
            </a:pPr>
            <a:r>
              <a:rPr lang="en-US" dirty="0">
                <a:latin typeface="Arial Black" panose="020B0A04020102020204" pitchFamily="34" charset="0"/>
                <a:ea typeface="+mj-ea"/>
                <a:cs typeface="+mj-cs"/>
              </a:rPr>
              <a:t>The use of NFTs, or non-fungible tokens, to create virtual clothing, accessories, or avatars that can be worn or displayed online or in the metaverse, that are unique, scarce, and verifiable. </a:t>
            </a:r>
          </a:p>
          <a:p>
            <a:pPr>
              <a:lnSpc>
                <a:spcPct val="90000"/>
              </a:lnSpc>
              <a:spcBef>
                <a:spcPts val="1000"/>
              </a:spcBef>
              <a:buClr>
                <a:schemeClr val="bg2">
                  <a:lumMod val="40000"/>
                  <a:lumOff val="60000"/>
                </a:schemeClr>
              </a:buClr>
              <a:buSzPct val="80000"/>
            </a:pPr>
            <a:r>
              <a:rPr lang="en-US" dirty="0">
                <a:latin typeface="Arial Black" panose="020B0A04020102020204" pitchFamily="34" charset="0"/>
                <a:ea typeface="+mj-ea"/>
                <a:cs typeface="+mj-cs"/>
              </a:rPr>
              <a:t>The integration of smart fabrics and wearable devices into fashion design, which can enhance the functionality, comfort, and interactivity of clothing. </a:t>
            </a:r>
          </a:p>
          <a:p>
            <a:pPr>
              <a:lnSpc>
                <a:spcPct val="90000"/>
              </a:lnSpc>
              <a:spcBef>
                <a:spcPts val="1000"/>
              </a:spcBef>
              <a:buClr>
                <a:schemeClr val="bg2">
                  <a:lumMod val="40000"/>
                  <a:lumOff val="60000"/>
                </a:schemeClr>
              </a:buClr>
              <a:buSzPct val="80000"/>
            </a:pPr>
            <a:r>
              <a:rPr lang="en-US" dirty="0">
                <a:latin typeface="Arial Black" panose="020B0A04020102020204" pitchFamily="34" charset="0"/>
                <a:ea typeface="+mj-ea"/>
                <a:cs typeface="+mj-cs"/>
              </a:rPr>
              <a:t>The application of artificial intelligence and big data to fashion production, marketing, and consumption, which can improve the efficiency, quality, and personalization of fashion products and services.</a:t>
            </a:r>
          </a:p>
        </p:txBody>
      </p:sp>
      <p:sp>
        <p:nvSpPr>
          <p:cNvPr id="3" name="TextBox 2">
            <a:extLst>
              <a:ext uri="{FF2B5EF4-FFF2-40B4-BE49-F238E27FC236}">
                <a16:creationId xmlns:a16="http://schemas.microsoft.com/office/drawing/2014/main" id="{18F435E2-EF6E-CDC9-A29D-3D48417B726F}"/>
              </a:ext>
            </a:extLst>
          </p:cNvPr>
          <p:cNvSpPr txBox="1"/>
          <p:nvPr/>
        </p:nvSpPr>
        <p:spPr>
          <a:xfrm>
            <a:off x="7517461" y="371295"/>
            <a:ext cx="5589917" cy="1200329"/>
          </a:xfrm>
          <a:prstGeom prst="rect">
            <a:avLst/>
          </a:prstGeom>
          <a:noFill/>
        </p:spPr>
        <p:txBody>
          <a:bodyPr wrap="square" rtlCol="0">
            <a:spAutoFit/>
          </a:bodyPr>
          <a:lstStyle/>
          <a:p>
            <a:endParaRPr lang="en-US" dirty="0"/>
          </a:p>
          <a:p>
            <a:endParaRPr lang="en-US" dirty="0"/>
          </a:p>
          <a:p>
            <a:endParaRPr lang="en-US" dirty="0"/>
          </a:p>
          <a:p>
            <a:endParaRPr lang="en-KE" dirty="0"/>
          </a:p>
        </p:txBody>
      </p:sp>
    </p:spTree>
    <p:extLst>
      <p:ext uri="{BB962C8B-B14F-4D97-AF65-F5344CB8AC3E}">
        <p14:creationId xmlns:p14="http://schemas.microsoft.com/office/powerpoint/2010/main" val="9728939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53479B4-9897-E331-65A9-EC6DE4C4824E}"/>
              </a:ext>
            </a:extLst>
          </p:cNvPr>
          <p:cNvSpPr txBox="1"/>
          <p:nvPr/>
        </p:nvSpPr>
        <p:spPr>
          <a:xfrm>
            <a:off x="161925" y="54060"/>
            <a:ext cx="4800600" cy="5909310"/>
          </a:xfrm>
          <a:prstGeom prst="rect">
            <a:avLst/>
          </a:prstGeom>
          <a:noFill/>
        </p:spPr>
        <p:txBody>
          <a:bodyPr wrap="square" rtlCol="0">
            <a:spAutoFit/>
          </a:bodyPr>
          <a:lstStyle/>
          <a:p>
            <a:r>
              <a:rPr lang="en-US" dirty="0"/>
              <a:t>    </a:t>
            </a:r>
            <a:r>
              <a:rPr lang="en-US" sz="1600" b="1" u="sng" dirty="0">
                <a:latin typeface="Arial Black" panose="020B0A04020102020204" pitchFamily="34" charset="0"/>
              </a:rPr>
              <a:t>E-COMMERCE AND LIVESTREAMING</a:t>
            </a:r>
          </a:p>
          <a:p>
            <a:endParaRPr lang="en-US" dirty="0"/>
          </a:p>
          <a:p>
            <a:r>
              <a:rPr lang="en-US" dirty="0">
                <a:latin typeface="Arial Black" panose="020B0A04020102020204" pitchFamily="34" charset="0"/>
              </a:rPr>
              <a:t>E-commerce platforms in China offer a variety of features and services for fashion shoppers, such as product reviews, social media integration, personalized recommendations, and online payment options. </a:t>
            </a:r>
          </a:p>
          <a:p>
            <a:endParaRPr lang="en-US" dirty="0">
              <a:latin typeface="Arial Black" panose="020B0A04020102020204" pitchFamily="34" charset="0"/>
            </a:endParaRPr>
          </a:p>
          <a:p>
            <a:r>
              <a:rPr lang="en-US" dirty="0">
                <a:latin typeface="Arial Black" panose="020B0A04020102020204" pitchFamily="34" charset="0"/>
              </a:rPr>
              <a:t>Livestreaming has become a popular way for fashion brands and influencers to showcase their products and interact with their audiences in real time.</a:t>
            </a:r>
          </a:p>
          <a:p>
            <a:endParaRPr lang="en-US" dirty="0">
              <a:latin typeface="Arial Black" panose="020B0A04020102020204" pitchFamily="34" charset="0"/>
            </a:endParaRPr>
          </a:p>
          <a:p>
            <a:r>
              <a:rPr lang="en-US" dirty="0">
                <a:latin typeface="Arial Black" panose="020B0A04020102020204" pitchFamily="34" charset="0"/>
              </a:rPr>
              <a:t>Livestreaming can boost sales conversion, brand awareness, and customer loyalty by creating an immersive and engaging shopping experience.</a:t>
            </a:r>
            <a:endParaRPr lang="en-KE" dirty="0">
              <a:latin typeface="Arial Black" panose="020B0A04020102020204" pitchFamily="34" charset="0"/>
            </a:endParaRPr>
          </a:p>
        </p:txBody>
      </p:sp>
      <p:pic>
        <p:nvPicPr>
          <p:cNvPr id="5" name="Picture 4" descr="A person taking a selfie">
            <a:extLst>
              <a:ext uri="{FF2B5EF4-FFF2-40B4-BE49-F238E27FC236}">
                <a16:creationId xmlns:a16="http://schemas.microsoft.com/office/drawing/2014/main" id="{BE269148-93DF-AC8E-44DB-76D15E1464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19351" y="552338"/>
            <a:ext cx="6029325" cy="5753323"/>
          </a:xfrm>
          <a:prstGeom prst="rect">
            <a:avLst/>
          </a:prstGeom>
        </p:spPr>
      </p:pic>
    </p:spTree>
    <p:extLst>
      <p:ext uri="{BB962C8B-B14F-4D97-AF65-F5344CB8AC3E}">
        <p14:creationId xmlns:p14="http://schemas.microsoft.com/office/powerpoint/2010/main" val="20128500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24BBC3D-9BC7-B835-62D1-FAE2EA3623BF}"/>
              </a:ext>
            </a:extLst>
          </p:cNvPr>
          <p:cNvSpPr txBox="1"/>
          <p:nvPr/>
        </p:nvSpPr>
        <p:spPr>
          <a:xfrm>
            <a:off x="329938" y="348792"/>
            <a:ext cx="4949072" cy="3170099"/>
          </a:xfrm>
          <a:prstGeom prst="rect">
            <a:avLst/>
          </a:prstGeom>
          <a:noFill/>
        </p:spPr>
        <p:txBody>
          <a:bodyPr wrap="square" rtlCol="0">
            <a:spAutoFit/>
          </a:bodyPr>
          <a:lstStyle/>
          <a:p>
            <a:r>
              <a:rPr lang="en-US" sz="2000" u="sng" dirty="0">
                <a:latin typeface="Arial Black" panose="020B0A04020102020204" pitchFamily="34" charset="0"/>
              </a:rPr>
              <a:t>PANDEMIC-INFLUENCED STYLES</a:t>
            </a:r>
          </a:p>
          <a:p>
            <a:endParaRPr lang="en-US" dirty="0"/>
          </a:p>
          <a:p>
            <a:r>
              <a:rPr lang="en-US" dirty="0">
                <a:latin typeface="Arial Black" panose="020B0A04020102020204" pitchFamily="34" charset="0"/>
              </a:rPr>
              <a:t>The rise of athleisure and loungewear, which are comfortable and versatile clothing styles that can be worn both at home and outside.</a:t>
            </a:r>
          </a:p>
          <a:p>
            <a:endParaRPr lang="en-US" dirty="0">
              <a:latin typeface="Arial Black" panose="020B0A04020102020204" pitchFamily="34" charset="0"/>
            </a:endParaRPr>
          </a:p>
          <a:p>
            <a:r>
              <a:rPr lang="en-US" dirty="0">
                <a:latin typeface="Arial Black" panose="020B0A04020102020204" pitchFamily="34" charset="0"/>
              </a:rPr>
              <a:t>Masks and protective accessories have become more fashionable and personalized, as people express their style and identity through them.</a:t>
            </a:r>
            <a:endParaRPr lang="en-KE" dirty="0">
              <a:latin typeface="Arial Black" panose="020B0A04020102020204" pitchFamily="34" charset="0"/>
            </a:endParaRPr>
          </a:p>
        </p:txBody>
      </p:sp>
      <p:pic>
        <p:nvPicPr>
          <p:cNvPr id="5" name="Picture 4" descr="A person wearing a mask&#10;&#10;Description automatically generated">
            <a:extLst>
              <a:ext uri="{FF2B5EF4-FFF2-40B4-BE49-F238E27FC236}">
                <a16:creationId xmlns:a16="http://schemas.microsoft.com/office/drawing/2014/main" id="{DA59A7CE-EEE6-B38C-EE76-6DB70AB1DE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99654" y="-8238"/>
            <a:ext cx="5496876" cy="6858000"/>
          </a:xfrm>
          <a:prstGeom prst="rect">
            <a:avLst/>
          </a:prstGeom>
        </p:spPr>
      </p:pic>
    </p:spTree>
    <p:extLst>
      <p:ext uri="{BB962C8B-B14F-4D97-AF65-F5344CB8AC3E}">
        <p14:creationId xmlns:p14="http://schemas.microsoft.com/office/powerpoint/2010/main" val="40397047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3" name="Picture 12">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5" name="Oval 14">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KE"/>
          </a:p>
        </p:txBody>
      </p:sp>
      <p:pic>
        <p:nvPicPr>
          <p:cNvPr id="17" name="Picture 16">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9" name="Picture 18">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1" name="Rectangle 20">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KE"/>
          </a:p>
        </p:txBody>
      </p:sp>
      <p:pic>
        <p:nvPicPr>
          <p:cNvPr id="6" name="Picture 5" descr="A group of people walking up stairs&#10;&#10;Description automatically generated">
            <a:extLst>
              <a:ext uri="{FF2B5EF4-FFF2-40B4-BE49-F238E27FC236}">
                <a16:creationId xmlns:a16="http://schemas.microsoft.com/office/drawing/2014/main" id="{02F14B57-8B66-EA80-6E72-80821C1574C1}"/>
              </a:ext>
            </a:extLst>
          </p:cNvPr>
          <p:cNvPicPr>
            <a:picLocks noChangeAspect="1"/>
          </p:cNvPicPr>
          <p:nvPr/>
        </p:nvPicPr>
        <p:blipFill rotWithShape="1">
          <a:blip r:embed="rId7">
            <a:extLst>
              <a:ext uri="{28A0092B-C50C-407E-A947-70E740481C1C}">
                <a14:useLocalDpi xmlns:a14="http://schemas.microsoft.com/office/drawing/2010/main" val="0"/>
              </a:ext>
            </a:extLst>
          </a:blip>
          <a:srcRect r="18027"/>
          <a:stretch/>
        </p:blipFill>
        <p:spPr>
          <a:xfrm>
            <a:off x="4619544" y="609601"/>
            <a:ext cx="6924756" cy="5638797"/>
          </a:xfrm>
          <a:prstGeom prst="rect">
            <a:avLst/>
          </a:prstGeom>
          <a:effectLst>
            <a:outerShdw blurRad="50800" dist="38100" dir="5400000" algn="t" rotWithShape="0">
              <a:prstClr val="black">
                <a:alpha val="43000"/>
              </a:prstClr>
            </a:outerShdw>
          </a:effectLst>
        </p:spPr>
      </p:pic>
      <p:sp>
        <p:nvSpPr>
          <p:cNvPr id="23" name="Rectangle 22">
            <a:extLst>
              <a:ext uri="{FF2B5EF4-FFF2-40B4-BE49-F238E27FC236}">
                <a16:creationId xmlns:a16="http://schemas.microsoft.com/office/drawing/2014/main" id="{A93A089E-0A16-452C-B341-0F769780D2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KE"/>
          </a:p>
        </p:txBody>
      </p:sp>
      <p:sp>
        <p:nvSpPr>
          <p:cNvPr id="2" name="TextBox 1">
            <a:extLst>
              <a:ext uri="{FF2B5EF4-FFF2-40B4-BE49-F238E27FC236}">
                <a16:creationId xmlns:a16="http://schemas.microsoft.com/office/drawing/2014/main" id="{AF94D48B-6DF0-0E3A-5864-13B0B82C88C8}"/>
              </a:ext>
            </a:extLst>
          </p:cNvPr>
          <p:cNvSpPr txBox="1"/>
          <p:nvPr/>
        </p:nvSpPr>
        <p:spPr>
          <a:xfrm>
            <a:off x="149087" y="168110"/>
            <a:ext cx="3822755" cy="6080289"/>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pPr>
            <a:r>
              <a:rPr lang="en-US" u="sng" dirty="0">
                <a:latin typeface="Arial Black" panose="020B0A04020102020204" pitchFamily="34" charset="0"/>
                <a:ea typeface="+mj-ea"/>
                <a:cs typeface="+mj-cs"/>
              </a:rPr>
              <a:t>Streetwear Dominance </a:t>
            </a:r>
          </a:p>
          <a:p>
            <a:pPr>
              <a:spcBef>
                <a:spcPts val="1000"/>
              </a:spcBef>
              <a:buClr>
                <a:schemeClr val="bg2">
                  <a:lumMod val="40000"/>
                  <a:lumOff val="60000"/>
                </a:schemeClr>
              </a:buClr>
              <a:buSzPct val="80000"/>
            </a:pPr>
            <a:r>
              <a:rPr lang="en-US" dirty="0">
                <a:latin typeface="Arial Black" panose="020B0A04020102020204" pitchFamily="34" charset="0"/>
                <a:ea typeface="+mj-ea"/>
                <a:cs typeface="+mj-cs"/>
              </a:rPr>
              <a:t>Streetwear Dominance in Chinese fashion is a topic that explores how streetwear, a style of casual clothing inspired by urban subcultures such as hip-hop, skateboarding, and graffiti, has become a major trend and influence in the Chinese fashion industry and culture</a:t>
            </a:r>
          </a:p>
        </p:txBody>
      </p:sp>
    </p:spTree>
    <p:extLst>
      <p:ext uri="{BB962C8B-B14F-4D97-AF65-F5344CB8AC3E}">
        <p14:creationId xmlns:p14="http://schemas.microsoft.com/office/powerpoint/2010/main" val="22248140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29" name="Picture 10">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30" name="Picture 12">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31" name="Oval 14">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KE"/>
          </a:p>
        </p:txBody>
      </p:sp>
      <p:pic>
        <p:nvPicPr>
          <p:cNvPr id="32" name="Picture 16">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33" name="Picture 18">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34" name="Rectangle 20">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KE"/>
          </a:p>
        </p:txBody>
      </p:sp>
      <p:pic>
        <p:nvPicPr>
          <p:cNvPr id="6" name="Picture 5" descr="A person sitting on a bench with a dog&#10;&#10;Description automatically generated">
            <a:extLst>
              <a:ext uri="{FF2B5EF4-FFF2-40B4-BE49-F238E27FC236}">
                <a16:creationId xmlns:a16="http://schemas.microsoft.com/office/drawing/2014/main" id="{A4DD491E-2096-7C46-BA41-400E142733D4}"/>
              </a:ext>
            </a:extLst>
          </p:cNvPr>
          <p:cNvPicPr>
            <a:picLocks noChangeAspect="1"/>
          </p:cNvPicPr>
          <p:nvPr/>
        </p:nvPicPr>
        <p:blipFill rotWithShape="1">
          <a:blip r:embed="rId7">
            <a:extLst>
              <a:ext uri="{28A0092B-C50C-407E-A947-70E740481C1C}">
                <a14:useLocalDpi xmlns:a14="http://schemas.microsoft.com/office/drawing/2010/main" val="0"/>
              </a:ext>
            </a:extLst>
          </a:blip>
          <a:srcRect r="1" b="21230"/>
          <a:stretch/>
        </p:blipFill>
        <p:spPr>
          <a:xfrm>
            <a:off x="-2" y="10"/>
            <a:ext cx="6094407" cy="6857990"/>
          </a:xfrm>
          <a:prstGeom prst="rect">
            <a:avLst/>
          </a:prstGeom>
        </p:spPr>
      </p:pic>
      <p:sp>
        <p:nvSpPr>
          <p:cNvPr id="2" name="TextBox 1">
            <a:extLst>
              <a:ext uri="{FF2B5EF4-FFF2-40B4-BE49-F238E27FC236}">
                <a16:creationId xmlns:a16="http://schemas.microsoft.com/office/drawing/2014/main" id="{1BB47E18-FB1F-DDD5-05BC-C19A13E910FF}"/>
              </a:ext>
            </a:extLst>
          </p:cNvPr>
          <p:cNvSpPr txBox="1"/>
          <p:nvPr/>
        </p:nvSpPr>
        <p:spPr>
          <a:xfrm>
            <a:off x="6729437" y="1184209"/>
            <a:ext cx="3893506" cy="4220816"/>
          </a:xfrm>
          <a:prstGeom prst="rect">
            <a:avLst/>
          </a:prstGeom>
        </p:spPr>
        <p:txBody>
          <a:bodyPr vert="horz" lIns="91440" tIns="45720" rIns="91440" bIns="45720" rtlCol="0">
            <a:normAutofit fontScale="92500" lnSpcReduction="10000"/>
          </a:bodyPr>
          <a:lstStyle/>
          <a:p>
            <a:pPr>
              <a:spcBef>
                <a:spcPts val="1000"/>
              </a:spcBef>
              <a:buClr>
                <a:schemeClr val="bg2">
                  <a:lumMod val="40000"/>
                  <a:lumOff val="60000"/>
                </a:schemeClr>
              </a:buClr>
              <a:buSzPct val="80000"/>
            </a:pPr>
            <a:r>
              <a:rPr lang="en-US" sz="2400" u="sng" dirty="0">
                <a:latin typeface="Arial Black" panose="020B0A04020102020204" pitchFamily="34" charset="0"/>
                <a:ea typeface="+mj-ea"/>
                <a:cs typeface="+mj-cs"/>
              </a:rPr>
              <a:t>Gender fluidity</a:t>
            </a:r>
          </a:p>
          <a:p>
            <a:pPr>
              <a:spcBef>
                <a:spcPts val="1000"/>
              </a:spcBef>
              <a:buClr>
                <a:schemeClr val="bg2">
                  <a:lumMod val="40000"/>
                  <a:lumOff val="60000"/>
                </a:schemeClr>
              </a:buClr>
              <a:buSzPct val="80000"/>
            </a:pPr>
            <a:r>
              <a:rPr lang="en-US" sz="1900" dirty="0">
                <a:latin typeface="Arial Black" panose="020B0A04020102020204" pitchFamily="34" charset="0"/>
                <a:ea typeface="+mj-ea"/>
                <a:cs typeface="+mj-cs"/>
              </a:rPr>
              <a:t>In China, men are increasingly moving towards more delicate items while females are enticed more by masculine styles, notably oversized sweatshirts and </a:t>
            </a:r>
            <a:r>
              <a:rPr lang="en-US" sz="1900" dirty="0" err="1">
                <a:latin typeface="Arial Black" panose="020B0A04020102020204" pitchFamily="34" charset="0"/>
                <a:ea typeface="+mj-ea"/>
                <a:cs typeface="+mj-cs"/>
              </a:rPr>
              <a:t>tshirts</a:t>
            </a:r>
            <a:r>
              <a:rPr lang="en-US" sz="1900" dirty="0">
                <a:latin typeface="Arial Black" panose="020B0A04020102020204" pitchFamily="34" charset="0"/>
                <a:ea typeface="+mj-ea"/>
                <a:cs typeface="+mj-cs"/>
              </a:rPr>
              <a:t>. This crossover is embraced domestically as both genders experiment with each other’s wardrobes. It reflects the influence of cultural, social, and personal factors on contemporary fashion in China and beyond</a:t>
            </a:r>
            <a:r>
              <a:rPr lang="en-US" sz="1700" dirty="0">
                <a:latin typeface="+mj-lt"/>
                <a:ea typeface="+mj-ea"/>
                <a:cs typeface="+mj-cs"/>
              </a:rPr>
              <a:t>.</a:t>
            </a:r>
          </a:p>
        </p:txBody>
      </p:sp>
    </p:spTree>
    <p:extLst>
      <p:ext uri="{BB962C8B-B14F-4D97-AF65-F5344CB8AC3E}">
        <p14:creationId xmlns:p14="http://schemas.microsoft.com/office/powerpoint/2010/main" val="27553069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0" name="Rectangle 9">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2"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4" name="Freeform: Shape 13">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GB"/>
          </a:p>
        </p:txBody>
      </p:sp>
      <p:sp>
        <p:nvSpPr>
          <p:cNvPr id="2" name="Title 1">
            <a:extLst>
              <a:ext uri="{FF2B5EF4-FFF2-40B4-BE49-F238E27FC236}">
                <a16:creationId xmlns:a16="http://schemas.microsoft.com/office/drawing/2014/main" id="{114B09C6-0F71-7774-0DE7-697FE91CB527}"/>
              </a:ext>
            </a:extLst>
          </p:cNvPr>
          <p:cNvSpPr>
            <a:spLocks noGrp="1"/>
          </p:cNvSpPr>
          <p:nvPr>
            <p:ph type="title"/>
          </p:nvPr>
        </p:nvSpPr>
        <p:spPr>
          <a:xfrm>
            <a:off x="1103312" y="452718"/>
            <a:ext cx="8947522" cy="1400530"/>
          </a:xfrm>
        </p:spPr>
        <p:txBody>
          <a:bodyPr anchor="ctr">
            <a:normAutofit/>
          </a:bodyPr>
          <a:lstStyle/>
          <a:p>
            <a:r>
              <a:rPr lang="en-US" dirty="0">
                <a:solidFill>
                  <a:srgbClr val="FFFFFF"/>
                </a:solidFill>
                <a:latin typeface="Arial Black" panose="020B0A04020102020204" pitchFamily="34" charset="0"/>
              </a:rPr>
              <a:t>SUMMARY</a:t>
            </a:r>
            <a:endParaRPr lang="en-GB" dirty="0">
              <a:solidFill>
                <a:srgbClr val="FFFFFF"/>
              </a:solidFill>
              <a:latin typeface="Arial Black" panose="020B0A04020102020204" pitchFamily="34" charset="0"/>
            </a:endParaRPr>
          </a:p>
        </p:txBody>
      </p:sp>
      <p:sp>
        <p:nvSpPr>
          <p:cNvPr id="3" name="Content Placeholder 2">
            <a:extLst>
              <a:ext uri="{FF2B5EF4-FFF2-40B4-BE49-F238E27FC236}">
                <a16:creationId xmlns:a16="http://schemas.microsoft.com/office/drawing/2014/main" id="{1CFECE7E-74D2-F7B2-7997-3487D3E8828F}"/>
              </a:ext>
            </a:extLst>
          </p:cNvPr>
          <p:cNvSpPr>
            <a:spLocks noGrp="1"/>
          </p:cNvSpPr>
          <p:nvPr>
            <p:ph idx="1"/>
          </p:nvPr>
        </p:nvSpPr>
        <p:spPr>
          <a:xfrm>
            <a:off x="387695" y="2286162"/>
            <a:ext cx="6681014" cy="4539913"/>
          </a:xfrm>
        </p:spPr>
        <p:txBody>
          <a:bodyPr>
            <a:noAutofit/>
          </a:bodyPr>
          <a:lstStyle/>
          <a:p>
            <a:r>
              <a:rPr lang="en-US" sz="1600" dirty="0">
                <a:latin typeface="Arial Black" panose="020B0A04020102020204" pitchFamily="34" charset="0"/>
              </a:rPr>
              <a:t>In conclusion, Chinese fashion trends for 2023 represent a vibrant fusion of tradition and innovation, offering a glimpse into the evolving tastes and preferences of consumers in one of the world's largest fashion markets. From the revival of traditional elements to the dominance of streetwear, sustainability consciousness, and tech-infused designs, the Chinese fashion landscape is marked by diversity and dynamism. Gender fluidity and the global recognition of local designers are indicative of a growing cultural openness. Social media influencers and digital shopping platforms continue to exert significant influence, while the enduring impact of the COVID-19 pandemic is seen in the embrace of comfortable styles. As we move forward, keeping a close watch on China's fashion evolution will be essential, as it continues to shape and influence the global fashion industry.</a:t>
            </a:r>
            <a:endParaRPr lang="en-GB" sz="1600" dirty="0">
              <a:latin typeface="Arial Black" panose="020B0A04020102020204" pitchFamily="34" charset="0"/>
            </a:endParaRPr>
          </a:p>
        </p:txBody>
      </p:sp>
    </p:spTree>
    <p:extLst>
      <p:ext uri="{BB962C8B-B14F-4D97-AF65-F5344CB8AC3E}">
        <p14:creationId xmlns:p14="http://schemas.microsoft.com/office/powerpoint/2010/main" val="2744857738"/>
      </p:ext>
    </p:extLst>
  </p:cSld>
  <p:clrMapOvr>
    <a:overrideClrMapping bg1="lt1" tx1="dk1" bg2="lt2" tx2="dk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EFA97DF7C84184D93E5FCA31F09FEE7" ma:contentTypeVersion="15" ma:contentTypeDescription="Create a new document." ma:contentTypeScope="" ma:versionID="782dd85a75f4704442f647d8973ddc6d">
  <xsd:schema xmlns:xsd="http://www.w3.org/2001/XMLSchema" xmlns:xs="http://www.w3.org/2001/XMLSchema" xmlns:p="http://schemas.microsoft.com/office/2006/metadata/properties" xmlns:ns3="167efd2f-0e6c-4f85-8a47-9d63446ceae2" xmlns:ns4="7c58ec93-d355-4a29-a911-760cf285bbf3" targetNamespace="http://schemas.microsoft.com/office/2006/metadata/properties" ma:root="true" ma:fieldsID="2afe4f9eb56a25eea0cf3bb5005b73a5" ns3:_="" ns4:_="">
    <xsd:import namespace="167efd2f-0e6c-4f85-8a47-9d63446ceae2"/>
    <xsd:import namespace="7c58ec93-d355-4a29-a911-760cf285bbf3"/>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GenerationTime" minOccurs="0"/>
                <xsd:element ref="ns3:MediaServiceEventHashCode" minOccurs="0"/>
                <xsd:element ref="ns3:MediaServiceDateTaken" minOccurs="0"/>
                <xsd:element ref="ns3:MediaServiceOCR" minOccurs="0"/>
                <xsd:element ref="ns3:MediaLengthInSeconds" minOccurs="0"/>
                <xsd:element ref="ns4:SharedWithUsers" minOccurs="0"/>
                <xsd:element ref="ns4:SharedWithDetails" minOccurs="0"/>
                <xsd:element ref="ns4:SharingHintHash" minOccurs="0"/>
                <xsd:element ref="ns3:_activity"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67efd2f-0e6c-4f85-8a47-9d63446ceae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_activity" ma:index="21" nillable="true" ma:displayName="_activity" ma:hidden="true" ma:internalName="_activity">
      <xsd:simpleType>
        <xsd:restriction base="dms:Note"/>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c58ec93-d355-4a29-a911-760cf285bbf3"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167efd2f-0e6c-4f85-8a47-9d63446ceae2" xsi:nil="true"/>
  </documentManagement>
</p:properties>
</file>

<file path=customXml/itemProps1.xml><?xml version="1.0" encoding="utf-8"?>
<ds:datastoreItem xmlns:ds="http://schemas.openxmlformats.org/officeDocument/2006/customXml" ds:itemID="{3579FE78-781F-4096-886C-1961A426A59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67efd2f-0e6c-4f85-8a47-9d63446ceae2"/>
    <ds:schemaRef ds:uri="7c58ec93-d355-4a29-a911-760cf285bbf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C5F2657-1D65-4315-A855-8A3881F3DF59}">
  <ds:schemaRefs>
    <ds:schemaRef ds:uri="http://schemas.microsoft.com/sharepoint/v3/contenttype/forms"/>
  </ds:schemaRefs>
</ds:datastoreItem>
</file>

<file path=customXml/itemProps3.xml><?xml version="1.0" encoding="utf-8"?>
<ds:datastoreItem xmlns:ds="http://schemas.openxmlformats.org/officeDocument/2006/customXml" ds:itemID="{A5C9DA55-3D30-4BC5-8459-41B0049D6CF8}">
  <ds:schemaRefs>
    <ds:schemaRef ds:uri="http://schemas.microsoft.com/office/2006/documentManagement/types"/>
    <ds:schemaRef ds:uri="http://schemas.microsoft.com/office/infopath/2007/PartnerControls"/>
    <ds:schemaRef ds:uri="http://purl.org/dc/terms/"/>
    <ds:schemaRef ds:uri="http://purl.org/dc/dcmitype/"/>
    <ds:schemaRef ds:uri="http://schemas.openxmlformats.org/package/2006/metadata/core-properties"/>
    <ds:schemaRef ds:uri="167efd2f-0e6c-4f85-8a47-9d63446ceae2"/>
    <ds:schemaRef ds:uri="7c58ec93-d355-4a29-a911-760cf285bbf3"/>
    <ds:schemaRef ds:uri="http://www.w3.org/XML/1998/namespace"/>
    <ds:schemaRef ds:uri="http://purl.org/dc/elements/1.1/"/>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Ion</Template>
  <TotalTime>130</TotalTime>
  <Words>755</Words>
  <Application>Microsoft Office PowerPoint</Application>
  <PresentationFormat>Widescreen</PresentationFormat>
  <Paragraphs>51</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Arial Black</vt:lpstr>
      <vt:lpstr>Century Gothic</vt:lpstr>
      <vt:lpstr>Wingdings 3</vt: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Tracy Wangui</dc:creator>
  <cp:lastModifiedBy>Edward Mwongela</cp:lastModifiedBy>
  <cp:revision>2</cp:revision>
  <dcterms:created xsi:type="dcterms:W3CDTF">2023-09-08T19:17:27Z</dcterms:created>
  <dcterms:modified xsi:type="dcterms:W3CDTF">2023-09-09T04:12:07Z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0x0101000EFA97DF7C84184D93E5FCA31F09FEE7</vt:lpwstr>
  </property>
</Properties>
</file>